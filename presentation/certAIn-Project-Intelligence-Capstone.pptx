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Title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certAIn Project Intelligence</a:t>
            </a:r>
            <a:endParaRPr lang="en-US"/>
          </a:p>
          <a:p>
            <a:r>
              <a:rPr lang="en-US" sz="1800"/>
              <a:t>AI-Powered Project Planning &amp; Risk Forecasting App</a:t>
            </a:r>
            <a:endParaRPr lang="en-US"/>
          </a:p>
          <a:p>
            <a:r>
              <a:rPr lang="en-US" sz="1800"/>
              <a:t>Subtitle:</a:t>
            </a:r>
            <a:endParaRPr lang="en-US"/>
          </a:p>
          <a:p>
            <a:r>
              <a:rPr lang="en-US" sz="1800"/>
              <a:t>From deterministic planning to probability-based decision support.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Problem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Business question: can teams go from a short project brief to a defensible, risk-aware commitment in one planning session?</a:t>
            </a:r>
            <a:endParaRPr lang="en-US"/>
          </a:p>
          <a:p>
            <a:r>
              <a:rPr lang="en-US" sz="1800"/>
              <a:t>• Current state: teams commit to single-date plans without quantified uncertainty.</a:t>
            </a:r>
            <a:endParaRPr lang="en-US"/>
          </a:p>
          <a:p>
            <a:r>
              <a:rPr lang="en-US" sz="1800"/>
              <a:t>• Impact: delays appear late, mitigation is expensive, and stakeholder updates rely on intuition.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Data and EDA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Dataset: `1300` construction-task rows, `8` numeric features, `3` risk classes.</a:t>
            </a:r>
            <a:endParaRPr lang="en-US"/>
          </a:p>
          <a:p>
            <a:r>
              <a:rPr lang="en-US" sz="1800"/>
              <a:t>• Missing values: `0`; duplicate rows: `0`; duplicate task IDs: `0`.</a:t>
            </a:r>
            <a:endParaRPr lang="en-US"/>
          </a:p>
          <a:p>
            <a:r>
              <a:rPr lang="en-US" sz="1800"/>
              <a:t>• Class balance: `Low 50.8%`, `Medium 29.0%`, `High 20.2%`.</a:t>
            </a:r>
            <a:endParaRPr lang="en-US"/>
          </a:p>
          <a:p>
            <a:r>
              <a:rPr lang="en-US" sz="1800"/>
              <a:t>• Key insight: data is clean, but class separation is weak, so ML must remain advisory.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Solution and Architecture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Flow:</a:t>
            </a:r>
            <a:endParaRPr lang="en-US"/>
          </a:p>
          <a:p>
            <a:r>
              <a:rPr lang="en-US" sz="1800"/>
              <a:t>1. User project description</a:t>
            </a:r>
            <a:endParaRPr lang="en-US"/>
          </a:p>
          <a:p>
            <a:r>
              <a:rPr lang="en-US" sz="1800"/>
              <a:t>2. LLM task generation (or mock fallback)</a:t>
            </a:r>
            <a:endParaRPr lang="en-US"/>
          </a:p>
          <a:p>
            <a:r>
              <a:rPr lang="en-US" sz="1800"/>
              <a:t>3. Schema validation (Pydantic)</a:t>
            </a:r>
            <a:endParaRPr lang="en-US"/>
          </a:p>
          <a:p>
            <a:r>
              <a:rPr lang="en-US" sz="1800"/>
              <a:t>4. DAG + critical path</a:t>
            </a:r>
            <a:endParaRPr lang="en-US"/>
          </a:p>
          <a:p>
            <a:r>
              <a:rPr lang="en-US" sz="1800"/>
              <a:t>5. Monte Carlo simulation</a:t>
            </a:r>
            <a:endParaRPr lang="en-US"/>
          </a:p>
          <a:p>
            <a:r>
              <a:rPr lang="en-US" sz="1800"/>
              <a:t>6. Metrics + scenarios + advisory ML + exports</a:t>
            </a:r>
            <a:endParaRPr lang="en-US"/>
          </a:p>
          <a:p>
            <a:r>
              <a:rPr lang="en-US" sz="1800"/>
              <a:t>Tech:</a:t>
            </a:r>
            <a:endParaRPr lang="en-US"/>
          </a:p>
          <a:p>
            <a:r>
              <a:rPr lang="en-US" sz="1800"/>
              <a:t>• Streamlit, Groq, Pydantic, NetworkX, NumPy/Pandas, Plotly, SQLite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Live App Walkthrough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Show the 7 tabs:</a:t>
            </a:r>
            <a:endParaRPr lang="en-US"/>
          </a:p>
          <a:p>
            <a:r>
              <a:rPr lang="en-US" sz="1800"/>
              <a:t>• Executive Brief</a:t>
            </a:r>
            <a:endParaRPr lang="en-US"/>
          </a:p>
          <a:p>
            <a:r>
              <a:rPr lang="en-US" sz="1800"/>
              <a:t>• Task Plan</a:t>
            </a:r>
            <a:endParaRPr lang="en-US"/>
          </a:p>
          <a:p>
            <a:r>
              <a:rPr lang="en-US" sz="1800"/>
              <a:t>• Workflow</a:t>
            </a:r>
            <a:endParaRPr lang="en-US"/>
          </a:p>
          <a:p>
            <a:r>
              <a:rPr lang="en-US" sz="1800"/>
              <a:t>• Risk Dashboard</a:t>
            </a:r>
            <a:endParaRPr lang="en-US"/>
          </a:p>
          <a:p>
            <a:r>
              <a:rPr lang="en-US" sz="1800"/>
              <a:t>• ML Risk Scoring</a:t>
            </a:r>
            <a:endParaRPr lang="en-US"/>
          </a:p>
          <a:p>
            <a:r>
              <a:rPr lang="en-US" sz="1800"/>
              <a:t>• Scenario Lab</a:t>
            </a:r>
            <a:endParaRPr lang="en-US"/>
          </a:p>
          <a:p>
            <a:r>
              <a:rPr lang="en-US" sz="1800"/>
              <a:t>• History &amp; Export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Forecast Metrics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Explain:</a:t>
            </a:r>
            <a:endParaRPr lang="en-US"/>
          </a:p>
          <a:p>
            <a:r>
              <a:rPr lang="en-US" sz="1800"/>
              <a:t>• Mean completion time</a:t>
            </a:r>
            <a:endParaRPr lang="en-US"/>
          </a:p>
          <a:p>
            <a:r>
              <a:rPr lang="en-US" sz="1800"/>
              <a:t>• P50 (median outcome)</a:t>
            </a:r>
            <a:endParaRPr lang="en-US"/>
          </a:p>
          <a:p>
            <a:r>
              <a:rPr lang="en-US" sz="1800"/>
              <a:t>• P80 (recommended commitment date)</a:t>
            </a:r>
            <a:endParaRPr lang="en-US"/>
          </a:p>
          <a:p>
            <a:r>
              <a:rPr lang="en-US" sz="1800"/>
              <a:t>• Delay probability against selected deadline</a:t>
            </a:r>
            <a:endParaRPr lang="en-US"/>
          </a:p>
          <a:p>
            <a:r>
              <a:rPr lang="en-US" sz="1800"/>
              <a:t>Decision message:</a:t>
            </a:r>
            <a:endParaRPr lang="en-US"/>
          </a:p>
          <a:p>
            <a:r>
              <a:rPr lang="en-US" sz="1800"/>
              <a:t>Use P80 for realistic commitments under uncertainty.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Model Comparison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Baseline: `DummyClassifier` accuracy `0.5077`, macro F1 `0.2245`.</a:t>
            </a:r>
            <a:endParaRPr lang="en-US"/>
          </a:p>
          <a:p>
            <a:r>
              <a:rPr lang="en-US" sz="1800"/>
              <a:t>• Compared models: Logistic Regression, Random Forest, Extra Trees, HistGradientBoosting.</a:t>
            </a:r>
            <a:endParaRPr lang="en-US"/>
          </a:p>
          <a:p>
            <a:r>
              <a:rPr lang="en-US" sz="1800"/>
              <a:t>• Selected advisory model: `HistGradientBoosting`.</a:t>
            </a:r>
            <a:endParaRPr lang="en-US"/>
          </a:p>
          <a:p>
            <a:r>
              <a:rPr lang="en-US" sz="1800"/>
              <a:t>• Selection rule: highest cross-validated macro F1 (`0.3028`).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Risk Drivers and Scenario Decision Support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Critical-path frequency ranking identifies bottleneck tasks.</a:t>
            </a:r>
            <a:endParaRPr lang="en-US"/>
          </a:p>
          <a:p>
            <a:r>
              <a:rPr lang="en-US" sz="1800"/>
              <a:t>• Scenarios compared: baseline, aggressive deadline, increased capacity.</a:t>
            </a:r>
            <a:endParaRPr lang="en-US"/>
          </a:p>
          <a:p>
            <a:r>
              <a:rPr lang="en-US" sz="1800"/>
              <a:t>• Recommendation rule: choose the scenario with the lowest delay probability.</a:t>
            </a:r>
            <a:endParaRPr lang="en-US"/>
          </a:p>
          <a:p>
            <a:r>
              <a:rPr lang="en-US" sz="1800"/>
              <a:t>• Result: analytics becomes a concrete action recommendation, not only a chart.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Product &amp; Engineering Quality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Input validation and graph checks</a:t>
            </a:r>
            <a:endParaRPr lang="en-US"/>
          </a:p>
          <a:p>
            <a:r>
              <a:rPr lang="en-US" sz="1800"/>
              <a:t>• Session persistence with SQLite</a:t>
            </a:r>
            <a:endParaRPr lang="en-US"/>
          </a:p>
          <a:p>
            <a:r>
              <a:rPr lang="en-US" sz="1800"/>
              <a:t>• Exportable CSV/JSON outputs</a:t>
            </a:r>
            <a:endParaRPr lang="en-US"/>
          </a:p>
          <a:p>
            <a:r>
              <a:rPr lang="en-US" sz="1800"/>
              <a:t>• Smoke test + unit test suite</a:t>
            </a:r>
            <a:endParaRPr lang="en-US"/>
          </a:p>
          <a:p>
            <a:r>
              <a:rPr lang="en-US" sz="1800"/>
              <a:t>• CI pipeline via GitHub Actions</a:t>
            </a:r>
            <a:endParaRPr lang="en-US"/>
          </a:p>
          <a:p>
            <a:r>
              <a:rPr lang="en-US" sz="1800"/>
              <a:t>• Dockerized local reproducibility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Team Workflow and Validation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Week 1: scope + architecture + base app</a:t>
            </a:r>
            <a:endParaRPr lang="en-US"/>
          </a:p>
          <a:p>
            <a:r>
              <a:rPr lang="en-US" sz="1800"/>
              <a:t>• Week 2: analytics engine + notebook</a:t>
            </a:r>
            <a:endParaRPr lang="en-US"/>
          </a:p>
          <a:p>
            <a:r>
              <a:rPr lang="en-US" sz="1800"/>
              <a:t>• Week 3: scenarios + persistence + test hardening</a:t>
            </a:r>
            <a:endParaRPr lang="en-US"/>
          </a:p>
          <a:p>
            <a:r>
              <a:rPr lang="en-US" sz="1800"/>
              <a:t>• Week 4: CI + rehearsal + final packaging</a:t>
            </a:r>
            <a:endParaRPr lang="en-US"/>
          </a:p>
          <a:p>
            <a:r>
              <a:rPr lang="en-US" sz="1800"/>
              <a:t>• Include DoR/DoD and ownership split between both teammates.</a:t>
            </a:r>
            <a:endParaRPr lang="en-US"/>
          </a:p>
          <a:p>
            <a:r>
              <a:rPr lang="en-US" sz="1800"/>
              <a:t>• Mention internal rehearsal findings and the target-user test template in `docs/mvp-test-synthesis.md`.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Responsible AI (Right-Sized for Scope)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• No personal data required for this demo.</a:t>
            </a:r>
            <a:endParaRPr lang="en-US"/>
          </a:p>
          <a:p>
            <a:r>
              <a:rPr lang="en-US" sz="1800"/>
              <a:t>• User input transparency: generated plan is editable and reviewable.</a:t>
            </a:r>
            <a:endParaRPr lang="en-US"/>
          </a:p>
          <a:p>
            <a:r>
              <a:rPr lang="en-US" sz="1800"/>
              <a:t>• Risk note: LLM outputs can be imperfect; schema validation and manual review are required.</a:t>
            </a:r>
            <a:endParaRPr lang="en-US"/>
          </a:p>
          <a:p>
            <a:r>
              <a:rPr lang="en-US" sz="1800"/>
              <a:t>• ML note: classifier is advisory only because dataset signal is moderate.</a:t>
            </a:r>
            <a:endParaRPr lang="en-US"/>
          </a:p>
          <a:p>
            <a:r>
              <a:rPr lang="en-US" sz="1800"/>
              <a:t>Why included:</a:t>
            </a:r>
            <a:endParaRPr lang="en-US"/>
          </a:p>
          <a:p>
            <a:r>
              <a:rPr lang="en-US" sz="1800"/>
              <a:t>shows practical AI governance without over-scoping the project.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/>
              <a:t>Results, Limits, Next Steps</a:t>
            </a:r>
            <a:endParaRPr lang="en-US"/>
          </a:p>
        </p:txBody>
      </p:sp>
      <p:sp>
        <p:nvSpPr>
          <p:cNvPr id="3" name="Content"/>
          <p:cNvSpPr txBox="1"/>
          <p:nvPr/>
        </p:nvSpPr>
        <p:spPr>
          <a:xfrm>
            <a:off x="457200" y="12573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800"/>
              <a:t>Results:</a:t>
            </a:r>
            <a:endParaRPr lang="en-US"/>
          </a:p>
          <a:p>
            <a:r>
              <a:rPr lang="en-US" sz="1800"/>
              <a:t>• Faster planning cycle</a:t>
            </a:r>
            <a:endParaRPr lang="en-US"/>
          </a:p>
          <a:p>
            <a:r>
              <a:rPr lang="en-US" sz="1800"/>
              <a:t>• Earlier risk visibility</a:t>
            </a:r>
            <a:endParaRPr lang="en-US"/>
          </a:p>
          <a:p>
            <a:r>
              <a:rPr lang="en-US" sz="1800"/>
              <a:t>• Better commitment quality</a:t>
            </a:r>
            <a:endParaRPr lang="en-US"/>
          </a:p>
          <a:p>
            <a:r>
              <a:rPr lang="en-US" sz="1800"/>
              <a:t>Current limits:</a:t>
            </a:r>
            <a:endParaRPr lang="en-US"/>
          </a:p>
          <a:p>
            <a:r>
              <a:rPr lang="en-US" sz="1800"/>
              <a:t>• Single-project scope</a:t>
            </a:r>
            <a:endParaRPr lang="en-US"/>
          </a:p>
          <a:p>
            <a:r>
              <a:rPr lang="en-US" sz="1800"/>
              <a:t>• No multi-user auth or PM-tool integrations</a:t>
            </a:r>
            <a:endParaRPr lang="en-US"/>
          </a:p>
          <a:p>
            <a:r>
              <a:rPr lang="en-US" sz="1800"/>
              <a:t>• No SQL-based training-data warehouse in this capstone snapshot</a:t>
            </a:r>
            <a:endParaRPr lang="en-US"/>
          </a:p>
          <a:p>
            <a:r>
              <a:rPr lang="en-US" sz="1800"/>
              <a:t>Next steps:</a:t>
            </a:r>
            <a:endParaRPr lang="en-US"/>
          </a:p>
          <a:p>
            <a:r>
              <a:rPr lang="en-US" sz="1800"/>
              <a:t>• Portfolio view</a:t>
            </a:r>
            <a:endParaRPr lang="en-US"/>
          </a:p>
          <a:p>
            <a:r>
              <a:rPr lang="en-US" sz="1800"/>
              <a:t>• Jira/Asana connectors</a:t>
            </a:r>
            <a:endParaRPr lang="en-US"/>
          </a:p>
          <a:p>
            <a:r>
              <a:rPr lang="en-US" sz="1800"/>
              <a:t>• Optional cloud deployment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12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Default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certAIn Project Intelligence Capstone</dc:title>
  <dc:creator>Capstone Team</dc:creator>
  <cp:lastModifiedBy>Codex</cp:lastModifiedBy>
  <dcterms:created xsi:type="dcterms:W3CDTF">2026-03-09T17:13:48Z</dcterms:created>
  <dcterms:modified xsi:type="dcterms:W3CDTF">2026-03-09T17:13:48Z</dcterms:modified>
</cp:coreProperties>
</file>